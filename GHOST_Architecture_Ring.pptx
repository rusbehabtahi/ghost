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188207" y="521207"/>
            <a:ext cx="5815584" cy="5815584"/>
          </a:xfrm>
          <a:prstGeom prst="ellipse">
            <a:avLst/>
          </a:prstGeom>
          <a:solidFill>
            <a:srgbClr val="E8F6F7"/>
          </a:solidFill>
          <a:ln w="15240">
            <a:solidFill>
              <a:srgbClr val="2A7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28287" y="1161288"/>
            <a:ext cx="4535424" cy="4535424"/>
          </a:xfrm>
          <a:prstGeom prst="ellipse">
            <a:avLst/>
          </a:prstGeom>
          <a:solidFill>
            <a:srgbClr val="F8FCFD"/>
          </a:solidFill>
          <a:ln w="12700">
            <a:solidFill>
              <a:srgbClr val="2A7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9816" y="1330099"/>
            <a:ext cx="4972367" cy="1879148"/>
          </a:xfrm>
          <a:prstGeom prst="rect">
            <a:avLst/>
          </a:prstGeom>
          <a:noFill/>
        </p:spPr>
        <p:txBody>
          <a:bodyPr wrap="none" lIns="0" rIns="0" tIns="0" bIns="0" anchor="ctr">
            <a:prstTxWarp prst="textArchUp">
              <a:avLst/>
            </a:prstTxWarp>
            <a:spAutoFit/>
          </a:bodyPr>
          <a:lstStyle/>
          <a:p>
            <a:pPr algn="ctr"/>
            <a:r>
              <a:rPr sz="1500" b="1">
                <a:solidFill>
                  <a:srgbClr val="2A7076"/>
                </a:solidFill>
                <a:latin typeface="Arial"/>
              </a:rPr>
              <a:t>HUMAN-CONTROLLED GHOST ORCHESTRATION</a:t>
            </a:r>
          </a:p>
        </p:txBody>
      </p:sp>
      <p:sp>
        <p:nvSpPr>
          <p:cNvPr id="5" name="Block Arc 4"/>
          <p:cNvSpPr/>
          <p:nvPr/>
        </p:nvSpPr>
        <p:spPr>
          <a:xfrm>
            <a:off x="3627119" y="960119"/>
            <a:ext cx="4937760" cy="4937760"/>
          </a:xfrm>
          <a:prstGeom prst="blockArc">
            <a:avLst>
              <a:gd name="adj1" fmla="val 20500000"/>
              <a:gd name="adj2" fmla="val 25000000"/>
              <a:gd name="adj3" fmla="val 17407"/>
            </a:avLst>
          </a:prstGeom>
          <a:solidFill>
            <a:srgbClr val="E9EDFC"/>
          </a:solidFill>
          <a:ln w="14604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19050000">
            <a:off x="3908167" y="1665649"/>
            <a:ext cx="1504798" cy="393700"/>
          </a:xfrm>
          <a:prstGeom prst="rect">
            <a:avLst/>
          </a:prstGeom>
          <a:noFill/>
        </p:spPr>
        <p:txBody>
          <a:bodyPr wrap="none" lIns="0" rIns="0" tIns="0" bIns="0" anchor="ctr">
            <a:prstTxWarp prst="textArchUp">
              <a:avLst/>
            </a:prstTxWarp>
            <a:spAutoFit/>
          </a:bodyPr>
          <a:lstStyle/>
          <a:p>
            <a:pPr algn="ctr"/>
            <a:r>
              <a:rPr sz="1250" b="1">
                <a:solidFill>
                  <a:srgbClr val="153C49"/>
                </a:solidFill>
                <a:latin typeface="Arial"/>
              </a:rPr>
              <a:t>AI Client ChatGPT</a:t>
            </a:r>
          </a:p>
        </p:txBody>
      </p:sp>
      <p:sp>
        <p:nvSpPr>
          <p:cNvPr id="7" name="Block Arc 6"/>
          <p:cNvSpPr/>
          <p:nvPr/>
        </p:nvSpPr>
        <p:spPr>
          <a:xfrm>
            <a:off x="3627119" y="960119"/>
            <a:ext cx="4937760" cy="4937760"/>
          </a:xfrm>
          <a:prstGeom prst="blockArc">
            <a:avLst>
              <a:gd name="adj1" fmla="val 25500000"/>
              <a:gd name="adj2" fmla="val 30000000"/>
              <a:gd name="adj3" fmla="val 17407"/>
            </a:avLst>
          </a:prstGeom>
          <a:solidFill>
            <a:srgbClr val="E1F3F8"/>
          </a:solidFill>
          <a:ln w="14604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450000">
            <a:off x="5620930" y="1125617"/>
            <a:ext cx="1504798" cy="393700"/>
          </a:xfrm>
          <a:prstGeom prst="rect">
            <a:avLst/>
          </a:prstGeom>
          <a:noFill/>
        </p:spPr>
        <p:txBody>
          <a:bodyPr wrap="none" lIns="0" rIns="0" tIns="0" bIns="0" anchor="ctr">
            <a:prstTxWarp prst="textArchUp">
              <a:avLst/>
            </a:prstTxWarp>
            <a:spAutoFit/>
          </a:bodyPr>
          <a:lstStyle/>
          <a:p>
            <a:pPr algn="ctr"/>
            <a:r>
              <a:rPr sz="1250" b="1">
                <a:solidFill>
                  <a:srgbClr val="153C49"/>
                </a:solidFill>
                <a:latin typeface="Arial"/>
              </a:rPr>
              <a:t>MCP Interface / Server</a:t>
            </a:r>
          </a:p>
        </p:txBody>
      </p:sp>
      <p:sp>
        <p:nvSpPr>
          <p:cNvPr id="9" name="Block Arc 8"/>
          <p:cNvSpPr/>
          <p:nvPr/>
        </p:nvSpPr>
        <p:spPr>
          <a:xfrm>
            <a:off x="3627119" y="960119"/>
            <a:ext cx="4937760" cy="4937760"/>
          </a:xfrm>
          <a:prstGeom prst="blockArc">
            <a:avLst>
              <a:gd name="adj1" fmla="val 30500000"/>
              <a:gd name="adj2" fmla="val 35000000"/>
              <a:gd name="adj3" fmla="val 17407"/>
            </a:avLst>
          </a:prstGeom>
          <a:solidFill>
            <a:srgbClr val="E9EDFC"/>
          </a:solidFill>
          <a:ln w="14604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3450000">
            <a:off x="7135562" y="2090544"/>
            <a:ext cx="1504798" cy="393700"/>
          </a:xfrm>
          <a:prstGeom prst="rect">
            <a:avLst/>
          </a:prstGeom>
          <a:noFill/>
        </p:spPr>
        <p:txBody>
          <a:bodyPr wrap="none" lIns="0" rIns="0" tIns="0" bIns="0" anchor="ctr">
            <a:prstTxWarp prst="textArchUp">
              <a:avLst/>
            </a:prstTxWarp>
            <a:spAutoFit/>
          </a:bodyPr>
          <a:lstStyle/>
          <a:p>
            <a:pPr algn="ctr"/>
            <a:r>
              <a:rPr sz="1250" b="1">
                <a:solidFill>
                  <a:srgbClr val="153C49"/>
                </a:solidFill>
                <a:latin typeface="Arial"/>
              </a:rPr>
              <a:t>AI Client Claude</a:t>
            </a:r>
          </a:p>
        </p:txBody>
      </p:sp>
      <p:sp>
        <p:nvSpPr>
          <p:cNvPr id="11" name="Block Arc 10"/>
          <p:cNvSpPr/>
          <p:nvPr/>
        </p:nvSpPr>
        <p:spPr>
          <a:xfrm>
            <a:off x="3627119" y="960119"/>
            <a:ext cx="4937760" cy="4937760"/>
          </a:xfrm>
          <a:prstGeom prst="blockArc">
            <a:avLst>
              <a:gd name="adj1" fmla="val 1000000"/>
              <a:gd name="adj2" fmla="val 5500000"/>
              <a:gd name="adj3" fmla="val 17407"/>
            </a:avLst>
          </a:prstGeom>
          <a:solidFill>
            <a:srgbClr val="E1F3F8"/>
          </a:solidFill>
          <a:ln w="14604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8150000">
            <a:off x="7135562" y="4373755"/>
            <a:ext cx="1504798" cy="393700"/>
          </a:xfrm>
          <a:prstGeom prst="rect">
            <a:avLst/>
          </a:prstGeom>
          <a:noFill/>
        </p:spPr>
        <p:txBody>
          <a:bodyPr wrap="none" lIns="0" rIns="0" tIns="0" bIns="0" anchor="ctr">
            <a:prstTxWarp prst="textArchDown">
              <a:avLst/>
            </a:prstTxWarp>
            <a:spAutoFit/>
          </a:bodyPr>
          <a:lstStyle/>
          <a:p>
            <a:pPr algn="ctr"/>
            <a:r>
              <a:rPr sz="1250" b="1">
                <a:solidFill>
                  <a:srgbClr val="153C49"/>
                </a:solidFill>
                <a:latin typeface="Arial"/>
              </a:rPr>
              <a:t>Skills / Tools</a:t>
            </a:r>
          </a:p>
        </p:txBody>
      </p:sp>
      <p:sp>
        <p:nvSpPr>
          <p:cNvPr id="13" name="Block Arc 12"/>
          <p:cNvSpPr/>
          <p:nvPr/>
        </p:nvSpPr>
        <p:spPr>
          <a:xfrm>
            <a:off x="3627119" y="960119"/>
            <a:ext cx="4937760" cy="4937760"/>
          </a:xfrm>
          <a:prstGeom prst="blockArc">
            <a:avLst>
              <a:gd name="adj1" fmla="val 6000000"/>
              <a:gd name="adj2" fmla="val 10500000"/>
              <a:gd name="adj3" fmla="val 17407"/>
            </a:avLst>
          </a:prstGeom>
          <a:solidFill>
            <a:srgbClr val="E1F3F8"/>
          </a:solidFill>
          <a:ln w="14604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21150000">
            <a:off x="5620930" y="5338682"/>
            <a:ext cx="1504798" cy="393700"/>
          </a:xfrm>
          <a:prstGeom prst="rect">
            <a:avLst/>
          </a:prstGeom>
          <a:noFill/>
        </p:spPr>
        <p:txBody>
          <a:bodyPr wrap="none" lIns="0" rIns="0" tIns="0" bIns="0" anchor="ctr">
            <a:prstTxWarp prst="textArchDown">
              <a:avLst/>
            </a:prstTxWarp>
            <a:spAutoFit/>
          </a:bodyPr>
          <a:lstStyle/>
          <a:p>
            <a:pPr algn="ctr"/>
            <a:r>
              <a:rPr sz="1250" b="1">
                <a:solidFill>
                  <a:srgbClr val="153C49"/>
                </a:solidFill>
                <a:latin typeface="Arial"/>
              </a:rPr>
              <a:t>Memory / Knowledge</a:t>
            </a:r>
          </a:p>
        </p:txBody>
      </p:sp>
      <p:sp>
        <p:nvSpPr>
          <p:cNvPr id="15" name="Block Arc 14"/>
          <p:cNvSpPr/>
          <p:nvPr/>
        </p:nvSpPr>
        <p:spPr>
          <a:xfrm>
            <a:off x="3627119" y="960119"/>
            <a:ext cx="4937760" cy="4937760"/>
          </a:xfrm>
          <a:prstGeom prst="blockArc">
            <a:avLst>
              <a:gd name="adj1" fmla="val 11000000"/>
              <a:gd name="adj2" fmla="val 15500000"/>
              <a:gd name="adj3" fmla="val 17407"/>
            </a:avLst>
          </a:prstGeom>
          <a:solidFill>
            <a:srgbClr val="E1F3F8"/>
          </a:solidFill>
          <a:ln w="14604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2550000">
            <a:off x="3908167" y="4798650"/>
            <a:ext cx="1504798" cy="393700"/>
          </a:xfrm>
          <a:prstGeom prst="rect">
            <a:avLst/>
          </a:prstGeom>
          <a:noFill/>
        </p:spPr>
        <p:txBody>
          <a:bodyPr wrap="none" lIns="0" rIns="0" tIns="0" bIns="0" anchor="ctr">
            <a:prstTxWarp prst="textArchDown">
              <a:avLst/>
            </a:prstTxWarp>
            <a:spAutoFit/>
          </a:bodyPr>
          <a:lstStyle/>
          <a:p>
            <a:pPr algn="ctr"/>
            <a:r>
              <a:rPr sz="1250" b="1">
                <a:solidFill>
                  <a:srgbClr val="153C49"/>
                </a:solidFill>
                <a:latin typeface="Arial"/>
              </a:rPr>
              <a:t>GHOST GUI</a:t>
            </a:r>
          </a:p>
        </p:txBody>
      </p:sp>
      <p:sp>
        <p:nvSpPr>
          <p:cNvPr id="17" name="Block Arc 16"/>
          <p:cNvSpPr/>
          <p:nvPr/>
        </p:nvSpPr>
        <p:spPr>
          <a:xfrm>
            <a:off x="3627119" y="960119"/>
            <a:ext cx="4937760" cy="4937760"/>
          </a:xfrm>
          <a:prstGeom prst="blockArc">
            <a:avLst>
              <a:gd name="adj1" fmla="val 16000000"/>
              <a:gd name="adj2" fmla="val 20000000"/>
              <a:gd name="adj3" fmla="val 17407"/>
            </a:avLst>
          </a:prstGeom>
          <a:solidFill>
            <a:srgbClr val="E1F3F8"/>
          </a:solidFill>
          <a:ln w="14604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16200000">
            <a:off x="3281488" y="3232150"/>
            <a:ext cx="1318009" cy="393700"/>
          </a:xfrm>
          <a:prstGeom prst="rect">
            <a:avLst/>
          </a:prstGeom>
          <a:noFill/>
        </p:spPr>
        <p:txBody>
          <a:bodyPr wrap="none" lIns="0" rIns="0" tIns="0" bIns="0" anchor="ctr">
            <a:prstTxWarp prst="textArchUp">
              <a:avLst/>
            </a:prstTxWarp>
            <a:spAutoFit/>
          </a:bodyPr>
          <a:lstStyle/>
          <a:p>
            <a:pPr algn="ctr"/>
            <a:r>
              <a:rPr sz="1250" b="1">
                <a:solidFill>
                  <a:srgbClr val="153C49"/>
                </a:solidFill>
                <a:latin typeface="Arial"/>
              </a:rPr>
              <a:t>Blackboard</a:t>
            </a:r>
          </a:p>
        </p:txBody>
      </p:sp>
      <p:sp>
        <p:nvSpPr>
          <p:cNvPr id="19" name="Oval 18"/>
          <p:cNvSpPr/>
          <p:nvPr/>
        </p:nvSpPr>
        <p:spPr>
          <a:xfrm>
            <a:off x="5163311" y="2496312"/>
            <a:ext cx="1865376" cy="1865376"/>
          </a:xfrm>
          <a:prstGeom prst="ellipse">
            <a:avLst/>
          </a:prstGeom>
          <a:solidFill>
            <a:srgbClr val="12686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GHOST Backend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rial"/>
              </a:rPr>
              <a:t>Deterministic Orchestrator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Arial"/>
              </a:rPr>
              <a:t>secure • extensible • traceable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592" y="2304288"/>
            <a:ext cx="1115568" cy="475488"/>
          </a:xfrm>
          <a:prstGeom prst="roundRect">
            <a:avLst/>
          </a:prstGeom>
          <a:solidFill>
            <a:srgbClr val="F5FBFC"/>
          </a:solidFill>
          <a:ln w="12700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3C49"/>
                </a:solidFill>
                <a:latin typeface="Arial"/>
              </a:rPr>
              <a:t>AI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2304288"/>
            <a:ext cx="1115568" cy="475488"/>
          </a:xfrm>
          <a:prstGeom prst="roundRect">
            <a:avLst/>
          </a:prstGeom>
          <a:solidFill>
            <a:srgbClr val="F5FBFC"/>
          </a:solidFill>
          <a:ln w="12700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3C49"/>
                </a:solidFill>
                <a:latin typeface="Arial"/>
              </a:rPr>
              <a:t>MCP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3712" y="3191256"/>
            <a:ext cx="1280160" cy="493776"/>
          </a:xfrm>
          <a:prstGeom prst="roundRect">
            <a:avLst/>
          </a:prstGeom>
          <a:solidFill>
            <a:srgbClr val="F5FBFC"/>
          </a:solidFill>
          <a:ln w="12700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3C49"/>
                </a:solidFill>
                <a:latin typeface="Arial"/>
              </a:rPr>
              <a:t>Knowledge Graph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191256"/>
            <a:ext cx="1280160" cy="493776"/>
          </a:xfrm>
          <a:prstGeom prst="roundRect">
            <a:avLst/>
          </a:prstGeom>
          <a:solidFill>
            <a:srgbClr val="F5FBFC"/>
          </a:solidFill>
          <a:ln w="12700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3C49"/>
                </a:solidFill>
                <a:latin typeface="Arial"/>
              </a:rPr>
              <a:t>Skills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36592" y="4059936"/>
            <a:ext cx="1115568" cy="475488"/>
          </a:xfrm>
          <a:prstGeom prst="roundRect">
            <a:avLst/>
          </a:prstGeom>
          <a:solidFill>
            <a:srgbClr val="F5FBFC"/>
          </a:solidFill>
          <a:ln w="12700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3C49"/>
                </a:solidFill>
                <a:latin typeface="Arial"/>
              </a:rPr>
              <a:t>Documents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4059936"/>
            <a:ext cx="1115568" cy="475488"/>
          </a:xfrm>
          <a:prstGeom prst="roundRect">
            <a:avLst/>
          </a:prstGeom>
          <a:solidFill>
            <a:srgbClr val="F5FBFC"/>
          </a:solidFill>
          <a:ln w="12700">
            <a:solidFill>
              <a:srgbClr val="3E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3C49"/>
                </a:solidFill>
                <a:latin typeface="Arial"/>
              </a:rP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164592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53C49"/>
                </a:solidFill>
                <a:latin typeface="Arial"/>
              </a:rPr>
              <a:t>GHOST Architecture — Native PowerPoint 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633679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87984"/>
                </a:solidFill>
                <a:latin typeface="Arial"/>
              </a:rPr>
              <a:t>Curved boxes: native BLOCK_ARC • Curved labels: editable DrawingML WordArt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